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Warmup LR Decay</a:t>
            </a:r>
            <a:br>
              <a:rPr lang="en"/>
            </a:br>
            <a:r>
              <a:rPr lang="en"/>
              <a:t>LR Schedule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Momentum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25558e5f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25558e5f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25558e5f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25558e5f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5558e5f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5558e5f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5558e5fc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25558e5fc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25558e5fc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25558e5fc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22.png"/><Relationship Id="rId13" Type="http://schemas.openxmlformats.org/officeDocument/2006/relationships/image" Target="../media/image1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5" Type="http://schemas.openxmlformats.org/officeDocument/2006/relationships/image" Target="../media/image19.png"/><Relationship Id="rId14" Type="http://schemas.openxmlformats.org/officeDocument/2006/relationships/image" Target="../media/image13.png"/><Relationship Id="rId16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26908" y="650825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Marcos, Rishi, Edwin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January 29,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Executive Summary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Dataset</a:t>
            </a:r>
            <a:r>
              <a:rPr lang="en">
                <a:solidFill>
                  <a:srgbClr val="000000"/>
                </a:solidFill>
              </a:rPr>
              <a:t>: CIFAR-10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Test Accuracy</a:t>
            </a:r>
            <a:r>
              <a:rPr lang="en">
                <a:solidFill>
                  <a:srgbClr val="000000"/>
                </a:solidFill>
              </a:rPr>
              <a:t>: 87.13%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Best Model</a:t>
            </a:r>
            <a:r>
              <a:rPr lang="en">
                <a:solidFill>
                  <a:srgbClr val="000000"/>
                </a:solidFill>
              </a:rPr>
              <a:t>: VGG16 (ImageNet)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Alternatives</a:t>
            </a:r>
            <a:r>
              <a:rPr lang="en">
                <a:solidFill>
                  <a:srgbClr val="000000"/>
                </a:solidFill>
              </a:rPr>
              <a:t>: Scratch CNN variants with different </a:t>
            </a:r>
            <a:r>
              <a:rPr b="1" lang="en">
                <a:solidFill>
                  <a:srgbClr val="000000"/>
                </a:solidFill>
              </a:rPr>
              <a:t>preprocessing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lang="en">
                <a:solidFill>
                  <a:srgbClr val="000000"/>
                </a:solidFill>
              </a:rPr>
              <a:t>architecture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b="1" lang="en">
                <a:solidFill>
                  <a:srgbClr val="000000"/>
                </a:solidFill>
              </a:rPr>
              <a:t>training </a:t>
            </a:r>
            <a:r>
              <a:rPr lang="en">
                <a:solidFill>
                  <a:srgbClr val="000000"/>
                </a:solidFill>
              </a:rPr>
              <a:t>strategy.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60900" y="0"/>
            <a:ext cx="842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Dataset c</a:t>
            </a:r>
            <a:r>
              <a:rPr b="1" lang="en" sz="2200"/>
              <a:t>hoice: cifar-10</a:t>
            </a:r>
            <a:endParaRPr sz="3500"/>
          </a:p>
        </p:txBody>
      </p:sp>
      <p:sp>
        <p:nvSpPr>
          <p:cNvPr id="72" name="Google Shape;72;p15"/>
          <p:cNvSpPr txBox="1"/>
          <p:nvPr/>
        </p:nvSpPr>
        <p:spPr>
          <a:xfrm>
            <a:off x="274750" y="722450"/>
            <a:ext cx="2937600" cy="126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verage"/>
              <a:buChar char="●"/>
            </a:pPr>
            <a:r>
              <a:rPr lang="en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Structured</a:t>
            </a:r>
            <a:endParaRPr>
              <a:solidFill>
                <a:srgbClr val="43434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verage"/>
              <a:buChar char="●"/>
            </a:pPr>
            <a:r>
              <a:rPr lang="en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Familiarity—Reduced overhead on data processing</a:t>
            </a:r>
            <a:endParaRPr>
              <a:solidFill>
                <a:srgbClr val="43434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verage"/>
              <a:buChar char="●"/>
            </a:pPr>
            <a:r>
              <a:rPr lang="en">
                <a:solidFill>
                  <a:srgbClr val="434343"/>
                </a:solidFill>
                <a:latin typeface="Average"/>
                <a:ea typeface="Average"/>
                <a:cs typeface="Average"/>
                <a:sym typeface="Average"/>
              </a:rPr>
              <a:t>Allows more focus on model development</a:t>
            </a:r>
            <a:endParaRPr>
              <a:solidFill>
                <a:srgbClr val="43434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74750" y="2291725"/>
            <a:ext cx="343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Challenges faced with Animals Dataset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●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Inconsistent image sizes in the data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verage"/>
              <a:buChar char="●"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Consumes additional time for data cleaning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9900" y="366150"/>
            <a:ext cx="2867456" cy="410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6"/>
          <p:cNvGrpSpPr/>
          <p:nvPr/>
        </p:nvGrpSpPr>
        <p:grpSpPr>
          <a:xfrm>
            <a:off x="387513" y="1385300"/>
            <a:ext cx="2628925" cy="3416400"/>
            <a:chOff x="431925" y="1304875"/>
            <a:chExt cx="2628925" cy="3416400"/>
          </a:xfrm>
        </p:grpSpPr>
        <p:sp>
          <p:nvSpPr>
            <p:cNvPr id="80" name="Google Shape;80;p1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>
            <p:ph type="title"/>
          </p:nvPr>
        </p:nvSpPr>
        <p:spPr>
          <a:xfrm>
            <a:off x="457000" y="15250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>
                <a:solidFill>
                  <a:srgbClr val="434343"/>
                </a:solidFill>
              </a:rPr>
              <a:t>Data Preprocessing </a:t>
            </a:r>
            <a:endParaRPr b="1" sz="2200">
              <a:solidFill>
                <a:srgbClr val="434343"/>
              </a:solidFill>
            </a:endParaRPr>
          </a:p>
        </p:txBody>
      </p:sp>
      <p:grpSp>
        <p:nvGrpSpPr>
          <p:cNvPr id="83" name="Google Shape;83;p16"/>
          <p:cNvGrpSpPr/>
          <p:nvPr/>
        </p:nvGrpSpPr>
        <p:grpSpPr>
          <a:xfrm>
            <a:off x="3347138" y="1493000"/>
            <a:ext cx="2632500" cy="3416400"/>
            <a:chOff x="3320450" y="1304875"/>
            <a:chExt cx="2632500" cy="3416400"/>
          </a:xfrm>
        </p:grpSpPr>
        <p:sp>
          <p:nvSpPr>
            <p:cNvPr id="84" name="Google Shape;84;p1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6"/>
          <p:cNvSpPr txBox="1"/>
          <p:nvPr/>
        </p:nvSpPr>
        <p:spPr>
          <a:xfrm>
            <a:off x="6212550" y="1283200"/>
            <a:ext cx="2632500" cy="46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b="0" l="0" r="0" t="-4536"/>
          <a:stretch/>
        </p:blipFill>
        <p:spPr>
          <a:xfrm>
            <a:off x="373000" y="1545163"/>
            <a:ext cx="1374875" cy="151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00" y="3063750"/>
            <a:ext cx="1374886" cy="14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4459" y="1283200"/>
            <a:ext cx="873225" cy="362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1013" y="1283201"/>
            <a:ext cx="1869383" cy="36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1367600" y="4823375"/>
            <a:ext cx="49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Models train better with normalized floating-point inputs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017075" y="963425"/>
            <a:ext cx="36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  <a:latin typeface="Average"/>
                <a:ea typeface="Average"/>
                <a:cs typeface="Average"/>
                <a:sym typeface="Average"/>
              </a:rPr>
              <a:t>Normalization - RGB</a:t>
            </a:r>
            <a:r>
              <a:rPr lang="en">
                <a:solidFill>
                  <a:srgbClr val="E06666"/>
                </a:solidFill>
                <a:latin typeface="Average"/>
                <a:ea typeface="Average"/>
                <a:cs typeface="Average"/>
                <a:sym typeface="Average"/>
              </a:rPr>
              <a:t> of first pixel 32*32</a:t>
            </a:r>
            <a:endParaRPr>
              <a:solidFill>
                <a:srgbClr val="E0666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3" name="Google Shape;93;p16"/>
          <p:cNvSpPr txBox="1"/>
          <p:nvPr>
            <p:ph idx="4294967295" type="body"/>
          </p:nvPr>
        </p:nvSpPr>
        <p:spPr>
          <a:xfrm>
            <a:off x="200247" y="1179375"/>
            <a:ext cx="19920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00">
                <a:solidFill>
                  <a:schemeClr val="lt1"/>
                </a:solidFill>
              </a:rPr>
              <a:t>Assigning class labels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786700" y="1827450"/>
            <a:ext cx="540900" cy="126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[[6],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 [9],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 [1],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 ...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]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255700" y="1025175"/>
            <a:ext cx="160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Label shape 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before 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squeezing.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491300" y="3589963"/>
            <a:ext cx="17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After squeezing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558650" y="1530550"/>
            <a:ext cx="108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(50000, 1)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735000" y="3928850"/>
            <a:ext cx="96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(50000,)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593750" y="4329050"/>
            <a:ext cx="11493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[6, 9, 1, 0, ...]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052850" y="1025175"/>
            <a:ext cx="179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  <a:latin typeface="Average"/>
                <a:ea typeface="Average"/>
                <a:cs typeface="Average"/>
                <a:sym typeface="Average"/>
              </a:rPr>
              <a:t>Data augmentation</a:t>
            </a:r>
            <a:endParaRPr>
              <a:solidFill>
                <a:srgbClr val="E06666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7">
            <a:alphaModFix/>
          </a:blip>
          <a:srcRect b="57900" l="21591" r="15786" t="0"/>
          <a:stretch/>
        </p:blipFill>
        <p:spPr>
          <a:xfrm>
            <a:off x="6858600" y="2578662"/>
            <a:ext cx="2043624" cy="77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7">
            <a:alphaModFix/>
          </a:blip>
          <a:srcRect b="37073" l="0" r="83706" t="19858"/>
          <a:stretch/>
        </p:blipFill>
        <p:spPr>
          <a:xfrm>
            <a:off x="7523950" y="1425375"/>
            <a:ext cx="615250" cy="91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6"/>
          <p:cNvCxnSpPr>
            <a:stCxn id="102" idx="2"/>
          </p:cNvCxnSpPr>
          <p:nvPr/>
        </p:nvCxnSpPr>
        <p:spPr>
          <a:xfrm>
            <a:off x="7831575" y="2340150"/>
            <a:ext cx="6600" cy="2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 txBox="1"/>
          <p:nvPr/>
        </p:nvSpPr>
        <p:spPr>
          <a:xfrm>
            <a:off x="8262300" y="3260550"/>
            <a:ext cx="77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FF"/>
                </a:solidFill>
              </a:rPr>
              <a:t>https://ubiai.tools/</a:t>
            </a:r>
            <a:endParaRPr sz="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5900" y="0"/>
            <a:ext cx="7852200" cy="5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CNN architecture  of models</a:t>
            </a:r>
            <a:endParaRPr b="1" sz="2200">
              <a:solidFill>
                <a:schemeClr val="lt1"/>
              </a:solidFill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49" y="583575"/>
            <a:ext cx="1784976" cy="15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5700" y="634325"/>
            <a:ext cx="977250" cy="1080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/>
          <p:nvPr/>
        </p:nvCxnSpPr>
        <p:spPr>
          <a:xfrm flipH="1" rot="10800000">
            <a:off x="1885850" y="1584750"/>
            <a:ext cx="33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7"/>
          <p:cNvSpPr txBox="1"/>
          <p:nvPr/>
        </p:nvSpPr>
        <p:spPr>
          <a:xfrm>
            <a:off x="2316750" y="1617375"/>
            <a:ext cx="91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00FF"/>
                </a:solidFill>
                <a:latin typeface="Average"/>
                <a:ea typeface="Average"/>
                <a:cs typeface="Average"/>
                <a:sym typeface="Average"/>
              </a:rPr>
              <a:t>16 Epochs</a:t>
            </a:r>
            <a:endParaRPr b="1" sz="800">
              <a:solidFill>
                <a:srgbClr val="99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 flipH="1" rot="10800000">
            <a:off x="3256200" y="1584750"/>
            <a:ext cx="33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5" name="Google Shape;11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3950" y="634325"/>
            <a:ext cx="1671266" cy="153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7"/>
          <p:cNvCxnSpPr/>
          <p:nvPr/>
        </p:nvCxnSpPr>
        <p:spPr>
          <a:xfrm flipH="1" rot="10800000">
            <a:off x="5285225" y="1544500"/>
            <a:ext cx="33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7" name="Google Shape;11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6225" y="634325"/>
            <a:ext cx="1246247" cy="153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7"/>
          <p:cNvCxnSpPr/>
          <p:nvPr/>
        </p:nvCxnSpPr>
        <p:spPr>
          <a:xfrm flipH="1" rot="10800000">
            <a:off x="6912475" y="1544500"/>
            <a:ext cx="33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9" name="Google Shape;11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3475" y="634330"/>
            <a:ext cx="1671275" cy="7910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7"/>
          <p:cNvCxnSpPr/>
          <p:nvPr/>
        </p:nvCxnSpPr>
        <p:spPr>
          <a:xfrm flipH="1">
            <a:off x="6883513" y="1425360"/>
            <a:ext cx="1245600" cy="103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7"/>
          <p:cNvCxnSpPr/>
          <p:nvPr/>
        </p:nvCxnSpPr>
        <p:spPr>
          <a:xfrm flipH="1">
            <a:off x="831625" y="2458800"/>
            <a:ext cx="6056400" cy="28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/>
          <p:nvPr/>
        </p:nvCxnSpPr>
        <p:spPr>
          <a:xfrm flipH="1">
            <a:off x="827525" y="2749325"/>
            <a:ext cx="3900" cy="25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" name="Google Shape;12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7525" y="3007025"/>
            <a:ext cx="1245600" cy="12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85850" y="3020850"/>
            <a:ext cx="1113500" cy="125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7"/>
          <p:cNvCxnSpPr/>
          <p:nvPr/>
        </p:nvCxnSpPr>
        <p:spPr>
          <a:xfrm flipH="1" rot="10800000">
            <a:off x="1573125" y="3697175"/>
            <a:ext cx="33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6" name="Google Shape;126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1975" y="2863363"/>
            <a:ext cx="4423325" cy="16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78088" y="2568199"/>
            <a:ext cx="1238027" cy="28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/>
          <p:nvPr/>
        </p:nvCxnSpPr>
        <p:spPr>
          <a:xfrm flipH="1" rot="10800000">
            <a:off x="3023413" y="3727450"/>
            <a:ext cx="3345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7"/>
          <p:cNvCxnSpPr>
            <a:endCxn id="130" idx="1"/>
          </p:cNvCxnSpPr>
          <p:nvPr/>
        </p:nvCxnSpPr>
        <p:spPr>
          <a:xfrm>
            <a:off x="7805425" y="3697933"/>
            <a:ext cx="251400" cy="19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1" name="Google Shape;131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65475" y="2552174"/>
            <a:ext cx="1047300" cy="27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59125" y="4531899"/>
            <a:ext cx="626142" cy="27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056825" y="3559200"/>
            <a:ext cx="1047300" cy="31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23425" y="4899700"/>
            <a:ext cx="2731875" cy="1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977800" y="4856200"/>
            <a:ext cx="3057049" cy="22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243325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techniques</a:t>
            </a:r>
            <a:endParaRPr/>
          </a:p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SGD - baseline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Adam + Learning rate tuning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LR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LR Schedule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momentum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80"/>
              <a:t>Model accuracy progression</a:t>
            </a:r>
            <a:endParaRPr sz="2880"/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75" y="997800"/>
            <a:ext cx="8212050" cy="41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4294967295" type="title"/>
          </p:nvPr>
        </p:nvSpPr>
        <p:spPr>
          <a:xfrm>
            <a:off x="311700" y="445025"/>
            <a:ext cx="255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52" name="Google Shape;152;p20"/>
          <p:cNvSpPr txBox="1"/>
          <p:nvPr>
            <p:ph idx="4294967295" type="body"/>
          </p:nvPr>
        </p:nvSpPr>
        <p:spPr>
          <a:xfrm>
            <a:off x="311700" y="1152475"/>
            <a:ext cx="306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Strong diagonal line shows good overall class separation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Most errors occur between visually similar classes (cat &lt;-&gt; dog, ~14%)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Vehicle classes show very high </a:t>
            </a:r>
            <a:r>
              <a:rPr b="1" lang="en" sz="1600"/>
              <a:t>precision</a:t>
            </a:r>
            <a:r>
              <a:rPr b="1" lang="en" sz="1600"/>
              <a:t> </a:t>
            </a:r>
            <a:r>
              <a:rPr lang="en" sz="1600"/>
              <a:t>and </a:t>
            </a:r>
            <a:r>
              <a:rPr b="1" lang="en" sz="1600"/>
              <a:t>recall</a:t>
            </a:r>
            <a:endParaRPr b="1" sz="1600"/>
          </a:p>
        </p:txBody>
      </p:sp>
      <p:sp>
        <p:nvSpPr>
          <p:cNvPr id="153" name="Google Shape;153;p20"/>
          <p:cNvSpPr txBox="1"/>
          <p:nvPr>
            <p:ph idx="4294967295" type="body"/>
          </p:nvPr>
        </p:nvSpPr>
        <p:spPr>
          <a:xfrm>
            <a:off x="6534850" y="33833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25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54" name="Google Shape;154;p20"/>
          <p:cNvSpPr txBox="1"/>
          <p:nvPr>
            <p:ph idx="4294967295" type="body"/>
          </p:nvPr>
        </p:nvSpPr>
        <p:spPr>
          <a:xfrm>
            <a:off x="7374913" y="29358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35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425" y="456438"/>
            <a:ext cx="4952399" cy="423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0" y="307125"/>
            <a:ext cx="4343200" cy="22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0" y="2790200"/>
            <a:ext cx="4343200" cy="1945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4892850" y="1215125"/>
            <a:ext cx="412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Training (feature extraction):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Early stabilization with limited validation gains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Validation performance plateaus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4892850" y="2790200"/>
            <a:ext cx="412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Fine-Tuning: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Significant accuracy boost &amp; loss reduction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Confirms effectiveness of transfer learning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4" name="Google Shape;164;p21"/>
          <p:cNvSpPr txBox="1"/>
          <p:nvPr>
            <p:ph idx="4294967295" type="title"/>
          </p:nvPr>
        </p:nvSpPr>
        <p:spPr>
          <a:xfrm>
            <a:off x="6190000" y="307125"/>
            <a:ext cx="255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600" y="281325"/>
            <a:ext cx="5658499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>
            <p:ph idx="4294967295" type="title"/>
          </p:nvPr>
        </p:nvSpPr>
        <p:spPr>
          <a:xfrm>
            <a:off x="311700" y="281325"/>
            <a:ext cx="255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311700" y="1022200"/>
            <a:ext cx="285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Prediction confidence is well balanced across classes (no extremes)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11700" y="2206175"/>
            <a:ext cx="285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Consistent class-wise performance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311700" y="3169613"/>
            <a:ext cx="495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Model learns meaningful features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311700" y="3855850"/>
            <a:ext cx="709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Expected CIFAR-10 difficulty limits with higher confusion among visually similar animals categories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4635025" y="487000"/>
            <a:ext cx="2131200" cy="203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76" name="Google Shape;176;p22"/>
          <p:cNvCxnSpPr>
            <a:endCxn id="177" idx="0"/>
          </p:cNvCxnSpPr>
          <p:nvPr/>
        </p:nvCxnSpPr>
        <p:spPr>
          <a:xfrm>
            <a:off x="6611700" y="2532275"/>
            <a:ext cx="978300" cy="36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2"/>
          <p:cNvSpPr txBox="1"/>
          <p:nvPr/>
        </p:nvSpPr>
        <p:spPr>
          <a:xfrm>
            <a:off x="6448350" y="2892575"/>
            <a:ext cx="2283300" cy="101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Higher ambiguity due to resolution + visual similarity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83" name="Google Shape;183;p23"/>
          <p:cNvSpPr txBox="1"/>
          <p:nvPr>
            <p:ph idx="4294967295" type="body"/>
          </p:nvPr>
        </p:nvSpPr>
        <p:spPr>
          <a:xfrm>
            <a:off x="3480453" y="125415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Model performance improves consistently with architectural and training refinement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12200" y="1284300"/>
            <a:ext cx="695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Model performance improves consistently with architectural and training refinement but scratch CNNs plateau early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12200" y="2244800"/>
            <a:ext cx="69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Transfer learning significantly outperforms custom CNSs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412200" y="3113725"/>
            <a:ext cx="732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Final results show dataset-related difficulties rather than modeling flaws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3678000" y="2156550"/>
            <a:ext cx="1788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00"/>
              <a:t>Q &amp; A</a:t>
            </a:r>
            <a:endParaRPr sz="4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medal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570950" y="1192000"/>
            <a:ext cx="409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File Structure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Main.ipynb supported by helper .py files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570950" y="2186275"/>
            <a:ext cx="361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Separation of concerns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Helper files -&gt; Logic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Jupyter Notebook -&gt; Visualization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570950" y="3496550"/>
            <a:ext cx="401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Avoids messy conflicts with Versioning Control Systems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075" y="661263"/>
            <a:ext cx="316881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